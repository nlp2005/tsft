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04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B5040"/>
                </a:solidFill>
                <a:latin typeface="Arial"/>
              </a:rPr>
              <a:t>Regression Line vs Actual Sales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Sales</c:v>
                </c:pt>
              </c:strCache>
            </c:strRef>
          </c:tx>
          <c:spPr>
            <a:solidFill>
              <a:srgbClr val="5B8FD4"/>
            </a:solidFill>
            <a:ln w="25400" cap="flat">
              <a:solidFill>
                <a:srgbClr val="5B8F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8FD4"/>
              </a:solidFill>
              <a:ln w="9525" cap="flat">
                <a:solidFill>
                  <a:srgbClr val="5B8F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383063</c:v>
                </c:pt>
                <c:pt idx="1">
                  <c:v>363164</c:v>
                </c:pt>
                <c:pt idx="2">
                  <c:v>270521</c:v>
                </c:pt>
                <c:pt idx="3">
                  <c:v>520000</c:v>
                </c:pt>
                <c:pt idx="4">
                  <c:v>590000</c:v>
                </c:pt>
                <c:pt idx="5">
                  <c:v>480000</c:v>
                </c:pt>
                <c:pt idx="6">
                  <c:v>680000</c:v>
                </c:pt>
                <c:pt idx="7">
                  <c:v>620000</c:v>
                </c:pt>
                <c:pt idx="8">
                  <c:v>590000</c:v>
                </c:pt>
                <c:pt idx="9">
                  <c:v>130000</c:v>
                </c:pt>
                <c:pt idx="10">
                  <c:v>580000</c:v>
                </c:pt>
                <c:pt idx="11">
                  <c:v>418926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Regression Line</c:v>
                </c:pt>
              </c:strCache>
            </c:strRef>
          </c:tx>
          <c:spPr>
            <a:solidFill>
              <a:srgbClr val="C9A96E"/>
            </a:solidFill>
            <a:ln w="25400" cap="flat">
              <a:solidFill>
                <a:srgbClr val="C9A9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96E"/>
              </a:solidFill>
              <a:ln w="9525" cap="flat">
                <a:solidFill>
                  <a:srgbClr val="C9A9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410472</c:v>
                </c:pt>
                <c:pt idx="1">
                  <c:v>413556</c:v>
                </c:pt>
                <c:pt idx="2">
                  <c:v>416639</c:v>
                </c:pt>
                <c:pt idx="3">
                  <c:v>419723</c:v>
                </c:pt>
                <c:pt idx="4">
                  <c:v>422806</c:v>
                </c:pt>
                <c:pt idx="5">
                  <c:v>425890</c:v>
                </c:pt>
                <c:pt idx="6">
                  <c:v>428973</c:v>
                </c:pt>
                <c:pt idx="7">
                  <c:v>432057</c:v>
                </c:pt>
                <c:pt idx="8">
                  <c:v>435140</c:v>
                </c:pt>
                <c:pt idx="9">
                  <c:v>438224</c:v>
                </c:pt>
                <c:pt idx="10">
                  <c:v>441307</c:v>
                </c:pt>
                <c:pt idx="11">
                  <c:v>444391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CF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5F0E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0E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5F0E8"/>
                </a:solidFill>
                <a:latin typeface="Arial"/>
              </a:rPr>
              <a:t>ARIMA Forecasting – Actual vs Predicted Sales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Sales</c:v>
                </c:pt>
              </c:strCache>
            </c:strRef>
          </c:tx>
          <c:spPr>
            <a:solidFill>
              <a:srgbClr val="7EB5E8"/>
            </a:solidFill>
            <a:ln w="25400" cap="flat">
              <a:solidFill>
                <a:srgbClr val="7EB5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EB5E8"/>
              </a:solidFill>
              <a:ln w="9525" cap="flat">
                <a:solidFill>
                  <a:srgbClr val="7EB5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Jan-24</c:v>
                  </c:pt>
                  <c:pt idx="1">
                    <c:v>Feb-24</c:v>
                  </c:pt>
                  <c:pt idx="2">
                    <c:v>Mar-24</c:v>
                  </c:pt>
                  <c:pt idx="3">
                    <c:v>Apr-24</c:v>
                  </c:pt>
                  <c:pt idx="4">
                    <c:v>May-24</c:v>
                  </c:pt>
                  <c:pt idx="5">
                    <c:v>Jun-24</c:v>
                  </c:pt>
                  <c:pt idx="6">
                    <c:v>Jul-24</c:v>
                  </c:pt>
                  <c:pt idx="7">
                    <c:v>Aug-24</c:v>
                  </c:pt>
                  <c:pt idx="8">
                    <c:v>Sep-24</c:v>
                  </c:pt>
                  <c:pt idx="9">
                    <c:v>Oct-24</c:v>
                  </c:pt>
                  <c:pt idx="10">
                    <c:v>Nov-24</c:v>
                  </c:pt>
                  <c:pt idx="11">
                    <c:v>Dec-24</c:v>
                  </c:pt>
                  <c:pt idx="12">
                    <c:v>Jan-25</c:v>
                  </c:pt>
                  <c:pt idx="13">
                    <c:v>Feb-25</c:v>
                  </c:pt>
                  <c:pt idx="14">
                    <c:v>Mar-25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383063</c:v>
                </c:pt>
                <c:pt idx="1">
                  <c:v>363164</c:v>
                </c:pt>
                <c:pt idx="2">
                  <c:v>270521</c:v>
                </c:pt>
                <c:pt idx="3">
                  <c:v>520000</c:v>
                </c:pt>
                <c:pt idx="4">
                  <c:v>590000</c:v>
                </c:pt>
                <c:pt idx="5">
                  <c:v>480000</c:v>
                </c:pt>
                <c:pt idx="6">
                  <c:v>680000</c:v>
                </c:pt>
                <c:pt idx="7">
                  <c:v>620000</c:v>
                </c:pt>
                <c:pt idx="8">
                  <c:v>590000</c:v>
                </c:pt>
                <c:pt idx="9">
                  <c:v>130000</c:v>
                </c:pt>
                <c:pt idx="10">
                  <c:v>580000</c:v>
                </c:pt>
                <c:pt idx="11">
                  <c:v>418926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ARIMA Forecast</c:v>
                </c:pt>
              </c:strCache>
            </c:strRef>
          </c:tx>
          <c:spPr>
            <a:solidFill>
              <a:srgbClr val="C9A96E"/>
            </a:solidFill>
            <a:ln w="25400" cap="flat">
              <a:solidFill>
                <a:srgbClr val="C9A9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96E"/>
              </a:solidFill>
              <a:ln w="9525" cap="flat">
                <a:solidFill>
                  <a:srgbClr val="C9A9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Jan-24</c:v>
                  </c:pt>
                  <c:pt idx="1">
                    <c:v>Feb-24</c:v>
                  </c:pt>
                  <c:pt idx="2">
                    <c:v>Mar-24</c:v>
                  </c:pt>
                  <c:pt idx="3">
                    <c:v>Apr-24</c:v>
                  </c:pt>
                  <c:pt idx="4">
                    <c:v>May-24</c:v>
                  </c:pt>
                  <c:pt idx="5">
                    <c:v>Jun-24</c:v>
                  </c:pt>
                  <c:pt idx="6">
                    <c:v>Jul-24</c:v>
                  </c:pt>
                  <c:pt idx="7">
                    <c:v>Aug-24</c:v>
                  </c:pt>
                  <c:pt idx="8">
                    <c:v>Sep-24</c:v>
                  </c:pt>
                  <c:pt idx="9">
                    <c:v>Oct-24</c:v>
                  </c:pt>
                  <c:pt idx="10">
                    <c:v>Nov-24</c:v>
                  </c:pt>
                  <c:pt idx="11">
                    <c:v>Dec-24</c:v>
                  </c:pt>
                  <c:pt idx="12">
                    <c:v>Jan-25</c:v>
                  </c:pt>
                  <c:pt idx="13">
                    <c:v>Feb-25</c:v>
                  </c:pt>
                  <c:pt idx="14">
                    <c:v>Mar-25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410472</c:v>
                </c:pt>
                <c:pt idx="1">
                  <c:v>413556</c:v>
                </c:pt>
                <c:pt idx="2">
                  <c:v>416639</c:v>
                </c:pt>
                <c:pt idx="3">
                  <c:v>419723</c:v>
                </c:pt>
                <c:pt idx="4">
                  <c:v>422806</c:v>
                </c:pt>
                <c:pt idx="5">
                  <c:v>425890</c:v>
                </c:pt>
                <c:pt idx="6">
                  <c:v>428973</c:v>
                </c:pt>
                <c:pt idx="7">
                  <c:v>432057</c:v>
                </c:pt>
                <c:pt idx="8">
                  <c:v>435140</c:v>
                </c:pt>
                <c:pt idx="9">
                  <c:v>438224</c:v>
                </c:pt>
                <c:pt idx="10">
                  <c:v>441307</c:v>
                </c:pt>
                <c:pt idx="11">
                  <c:v>444391</c:v>
                </c:pt>
                <c:pt idx="12">
                  <c:v>447475</c:v>
                </c:pt>
                <c:pt idx="13">
                  <c:v>450558</c:v>
                </c:pt>
                <c:pt idx="14">
                  <c:v>453641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B8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5A453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B8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3C2E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45706" y="128588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01584" y="0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72170" y="128588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70218" y="771525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6096" y="642938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6682" y="771525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50608" y="1285875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1194" y="1414463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072" y="1285875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928813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5706" y="2057400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928813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72170" y="2057400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0218" y="2700338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2571750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6682" y="2700338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3214688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1194" y="3343275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7072" y="3214688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3857625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45706" y="3986213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3857625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72170" y="3986213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70218" y="4629150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4500563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96682" y="4629150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9144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548640" y="3566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 INDIA SALES DATASET  ·  B.TECH CSE-AIML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6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Prof. Chaitali Dey  ·  JAIN (Deemed-To-Be University)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B5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7315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800" dirty="0"/>
          </a:p>
        </p:txBody>
      </p:sp>
      <p:sp>
        <p:nvSpPr>
          <p:cNvPr id="43" name="Shape 41"/>
          <p:cNvSpPr/>
          <p:nvPr/>
        </p:nvSpPr>
        <p:spPr>
          <a:xfrm>
            <a:off x="548640" y="2359152"/>
            <a:ext cx="8046720" cy="402336"/>
          </a:xfrm>
          <a:prstGeom prst="rect">
            <a:avLst/>
          </a:prstGeom>
          <a:solidFill>
            <a:srgbClr val="3C2E22">
              <a:alpha val="80000"/>
            </a:srgbClr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 &amp; Significance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2843784"/>
            <a:ext cx="8046720" cy="402336"/>
          </a:xfrm>
          <a:prstGeom prst="rect">
            <a:avLst/>
          </a:prstGeom>
          <a:solidFill>
            <a:srgbClr val="3C2E22">
              <a:alpha val="80000"/>
            </a:srgbClr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" y="28620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Collection &amp; Preparation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3328416"/>
            <a:ext cx="8046720" cy="402336"/>
          </a:xfrm>
          <a:prstGeom prst="rect">
            <a:avLst/>
          </a:prstGeom>
          <a:solidFill>
            <a:srgbClr val="3C2E22">
              <a:alpha val="80000"/>
            </a:srgbClr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33467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Statistical Methods &amp; Background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48640" y="3813048"/>
            <a:ext cx="8046720" cy="402336"/>
          </a:xfrm>
          <a:prstGeom prst="rect">
            <a:avLst/>
          </a:prstGeom>
          <a:solidFill>
            <a:srgbClr val="3C2E22">
              <a:alpha val="80000"/>
            </a:srgbClr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Forecasting Models (Regression &amp; ARIMA)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3C2E22">
              <a:alpha val="80000"/>
            </a:srgbClr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43159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Results &amp; Conclusions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2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57200" y="1417320"/>
            <a:ext cx="54864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IKEA India sales data to identify time-dependent patterns and forecast future sales.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560320"/>
            <a:ext cx="54864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VARIABLE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aggregated to monthly intervals for trend &amp; seasonal analysis.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54864" cy="822960"/>
          </a:xfrm>
          <a:prstGeom prst="rect">
            <a:avLst/>
          </a:prstGeom>
          <a:solidFill>
            <a:srgbClr val="C9A9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4023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transaction records × 12 attributes including Total_Sales, Units_Sold, Profit, Discount_Percent.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6B5040"/>
          </a:solidFill>
          <a:ln w="12700">
            <a:solidFill>
              <a:srgbClr val="7A62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19202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trend in IKEA India sales over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seasonal patterns and fluctuations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relationship between time &amp; total sales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time series forecasting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sales values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5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731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74320" y="2194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IKEA India Large Sales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records · 12 attributes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685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0" y="1188720"/>
            <a:ext cx="5120640" cy="347472"/>
          </a:xfrm>
          <a:prstGeom prst="rect">
            <a:avLst/>
          </a:prstGeom>
          <a:solidFill>
            <a:srgbClr val="E8E0D5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225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1225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identifier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1572768"/>
            <a:ext cx="5120640" cy="347472"/>
          </a:xfrm>
          <a:prstGeom prst="rect">
            <a:avLst/>
          </a:prstGeom>
          <a:solidFill>
            <a:srgbClr val="F0EBE3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1609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1609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 (time variable)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1956816"/>
            <a:ext cx="5120640" cy="347472"/>
          </a:xfrm>
          <a:prstGeom prst="rect">
            <a:avLst/>
          </a:prstGeom>
          <a:solidFill>
            <a:srgbClr val="E8E0D5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City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of purchase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0" y="2340864"/>
            <a:ext cx="5120640" cy="347472"/>
          </a:xfrm>
          <a:prstGeom prst="rect">
            <a:avLst/>
          </a:prstGeom>
          <a:solidFill>
            <a:srgbClr val="F0EBE3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 product category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0" y="2724912"/>
            <a:ext cx="5120640" cy="347472"/>
          </a:xfrm>
          <a:prstGeom prst="rect">
            <a:avLst/>
          </a:prstGeom>
          <a:solidFill>
            <a:srgbClr val="E8E0D5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761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Units_Sold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units sold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0" y="3108960"/>
            <a:ext cx="5120640" cy="347472"/>
          </a:xfrm>
          <a:prstGeom prst="rect">
            <a:avLst/>
          </a:prstGeom>
          <a:solidFill>
            <a:srgbClr val="F0EBE3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31455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0" y="3493008"/>
            <a:ext cx="5120640" cy="347472"/>
          </a:xfrm>
          <a:prstGeom prst="rect">
            <a:avLst/>
          </a:prstGeom>
          <a:solidFill>
            <a:srgbClr val="E8E0D5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0" y="3529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0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3877056"/>
            <a:ext cx="5120640" cy="347472"/>
          </a:xfrm>
          <a:prstGeom prst="rect">
            <a:avLst/>
          </a:prstGeom>
          <a:solidFill>
            <a:srgbClr val="F0EBE3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forecasting variable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0" y="4261104"/>
            <a:ext cx="5120640" cy="347472"/>
          </a:xfrm>
          <a:prstGeom prst="rect">
            <a:avLst/>
          </a:prstGeom>
          <a:solidFill>
            <a:srgbClr val="E8E0D5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from sale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0" y="4645152"/>
            <a:ext cx="5120640" cy="347472"/>
          </a:xfrm>
          <a:prstGeom prst="rect">
            <a:avLst/>
          </a:prstGeom>
          <a:solidFill>
            <a:srgbClr val="F0EBE3"/>
          </a:solidFill>
          <a:ln w="3810">
            <a:solidFill>
              <a:srgbClr val="C8B8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49040" y="4681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0" y="4681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of payment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5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5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137160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C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85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2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METHODS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57200" y="1371600"/>
            <a:ext cx="2743200" cy="1554480"/>
          </a:xfrm>
          <a:prstGeom prst="rect">
            <a:avLst/>
          </a:prstGeom>
          <a:solidFill>
            <a:srgbClr val="6B5040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371600"/>
            <a:ext cx="2743200" cy="292608"/>
          </a:xfrm>
          <a:prstGeom prst="rect">
            <a:avLst/>
          </a:prstGeom>
          <a:solidFill>
            <a:srgbClr val="7A62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1408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1737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movement via time series plots, moving averages, regression models.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1371600"/>
            <a:ext cx="2743200" cy="1554480"/>
          </a:xfrm>
          <a:prstGeom prst="rect">
            <a:avLst/>
          </a:prstGeom>
          <a:solidFill>
            <a:srgbClr val="6B5040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1371600"/>
            <a:ext cx="2743200" cy="292608"/>
          </a:xfrm>
          <a:prstGeom prst="rect">
            <a:avLst/>
          </a:prstGeom>
          <a:solidFill>
            <a:srgbClr val="7A62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408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0" y="1737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patterns at regular intervals from festivals, holidays, promotions.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1371600"/>
            <a:ext cx="2743200" cy="1554480"/>
          </a:xfrm>
          <a:prstGeom prst="rect">
            <a:avLst/>
          </a:prstGeom>
          <a:solidFill>
            <a:srgbClr val="6B5040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1371600"/>
            <a:ext cx="2743200" cy="292608"/>
          </a:xfrm>
          <a:prstGeom prst="rect">
            <a:avLst/>
          </a:prstGeom>
          <a:solidFill>
            <a:srgbClr val="7A62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408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1737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MA smooths fluctuations: MA = (Sales(t-1) + Sales(t) + Sales(t+1)) / 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108960"/>
            <a:ext cx="2743200" cy="1554480"/>
          </a:xfrm>
          <a:prstGeom prst="rect">
            <a:avLst/>
          </a:prstGeom>
          <a:solidFill>
            <a:srgbClr val="6B5040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108960"/>
            <a:ext cx="2743200" cy="292608"/>
          </a:xfrm>
          <a:prstGeom prst="rect">
            <a:avLst/>
          </a:prstGeom>
          <a:solidFill>
            <a:srgbClr val="7A62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3474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measures relationship between Units Sold, Total Sales &amp; Profit.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3280" y="3108960"/>
            <a:ext cx="2743200" cy="1554480"/>
          </a:xfrm>
          <a:prstGeom prst="rect">
            <a:avLst/>
          </a:prstGeom>
          <a:solidFill>
            <a:srgbClr val="6B5040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0" y="3108960"/>
            <a:ext cx="2743200" cy="292608"/>
          </a:xfrm>
          <a:prstGeom prst="rect">
            <a:avLst/>
          </a:prstGeom>
          <a:solidFill>
            <a:srgbClr val="7A62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74720" y="3474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De-trending, de-seasonalization &amp; ADF testing — required before ARIMA.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85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2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57200" y="1325880"/>
            <a:ext cx="4023360" cy="1371600"/>
          </a:xfrm>
          <a:prstGeom prst="rect">
            <a:avLst/>
          </a:prstGeom>
          <a:solidFill>
            <a:srgbClr val="6B5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NULL HYPOTHESIS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relationship between Total Sales and Profit.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325880"/>
            <a:ext cx="4023360" cy="1371600"/>
          </a:xfrm>
          <a:prstGeom prst="rect">
            <a:avLst/>
          </a:prstGeom>
          <a:solidFill>
            <a:srgbClr val="7A62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ALTERNATIVE HYPOTHESIS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significant relationship between Total Sales and Profit.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 p &lt; 0.05 → Reject H₀     p &gt; 0.05 → Fail to reject H₀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2651760" cy="1554480"/>
          </a:xfrm>
          <a:prstGeom prst="rect">
            <a:avLst/>
          </a:prstGeom>
          <a:solidFill>
            <a:srgbClr val="E8E0D5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639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Σ(X−X̄)(Y−Ȳ) / √[Σ(X−X̄)²·Σ(Y−Ȳ)²]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&amp; direction of Sales–Profit relationship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3291840"/>
            <a:ext cx="2651760" cy="1554480"/>
          </a:xfrm>
          <a:prstGeom prst="rect">
            <a:avLst/>
          </a:prstGeom>
          <a:solidFill>
            <a:srgbClr val="E8E0D5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29000" y="3639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r√(n−2) / √(1−r²)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2900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statistical significance of correlation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291840"/>
            <a:ext cx="2651760" cy="1554480"/>
          </a:xfrm>
          <a:prstGeom prst="rect">
            <a:avLst/>
          </a:prstGeom>
          <a:solidFill>
            <a:srgbClr val="E8E0D5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639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(X̄ − μ) / (σ/√n)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mean when sample size ≥ 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C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3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2926080" cy="1828800"/>
          </a:xfrm>
          <a:prstGeom prst="rect">
            <a:avLst/>
          </a:prstGeom>
          <a:solidFill>
            <a:srgbClr val="6B5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1005840"/>
            <a:ext cx="91440" cy="1828800"/>
          </a:xfrm>
          <a:prstGeom prst="rect">
            <a:avLst/>
          </a:prstGeom>
          <a:solidFill>
            <a:srgbClr val="3C2E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044952" y="1005840"/>
            <a:ext cx="2926080" cy="1828800"/>
          </a:xfrm>
          <a:prstGeom prst="rect">
            <a:avLst/>
          </a:prstGeom>
          <a:solidFill>
            <a:srgbClr val="6B5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71032" y="1005840"/>
            <a:ext cx="91440" cy="1828800"/>
          </a:xfrm>
          <a:prstGeom prst="rect">
            <a:avLst/>
          </a:prstGeom>
          <a:solidFill>
            <a:srgbClr val="3C2E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82112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6089904" y="1005840"/>
            <a:ext cx="2926080" cy="1828800"/>
          </a:xfrm>
          <a:prstGeom prst="rect">
            <a:avLst/>
          </a:prstGeom>
          <a:solidFill>
            <a:srgbClr val="6B5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15984" y="1005840"/>
            <a:ext cx="91440" cy="1828800"/>
          </a:xfrm>
          <a:prstGeom prst="rect">
            <a:avLst/>
          </a:prstGeom>
          <a:solidFill>
            <a:srgbClr val="3C2E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7064" y="1554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0" y="3017520"/>
            <a:ext cx="9144000" cy="54864"/>
          </a:xfrm>
          <a:prstGeom prst="rect">
            <a:avLst/>
          </a:prstGeom>
          <a:solidFill>
            <a:srgbClr val="7A62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407,388.42 + 3,083.56t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MSE: 23,251,552,937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PREDICTIONS (Jan–Mar 2025)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4,47,475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4,50,558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22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4,53,641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8952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85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2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28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123444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6217920" y="1234440"/>
            <a:ext cx="2560320" cy="804672"/>
          </a:xfrm>
          <a:prstGeom prst="rect">
            <a:avLst/>
          </a:prstGeom>
          <a:solidFill>
            <a:srgbClr val="6B5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080" y="1289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55080" y="1536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407,388.42 + 3,083.56t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17920" y="2130552"/>
            <a:ext cx="2560320" cy="804672"/>
          </a:xfrm>
          <a:prstGeom prst="rect">
            <a:avLst/>
          </a:prstGeom>
          <a:solidFill>
            <a:srgbClr val="7A62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21854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355080" y="24323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23,251,552,937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17920" y="3026664"/>
            <a:ext cx="2560320" cy="804672"/>
          </a:xfrm>
          <a:prstGeom prst="rect">
            <a:avLst/>
          </a:prstGeom>
          <a:solidFill>
            <a:srgbClr val="6B5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55080" y="3081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55080" y="33284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upward (~₹3,084/month)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217920" y="3922776"/>
            <a:ext cx="2560320" cy="804672"/>
          </a:xfrm>
          <a:prstGeom prst="rect">
            <a:avLst/>
          </a:prstGeom>
          <a:solidFill>
            <a:srgbClr val="7A624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5508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355080" y="4224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short-term fluctuations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C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85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2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FORECASTING MODEL</a:t>
            </a:r>
            <a:endParaRPr lang="en-US" sz="28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123444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B5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4594860"/>
            <a:ext cx="457200" cy="548640"/>
          </a:xfrm>
          <a:prstGeom prst="rect">
            <a:avLst/>
          </a:prstGeom>
          <a:solidFill>
            <a:srgbClr val="7A6248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0" y="4594860"/>
            <a:ext cx="457200" cy="548640"/>
          </a:xfrm>
          <a:prstGeom prst="rect">
            <a:avLst/>
          </a:prstGeom>
          <a:solidFill>
            <a:srgbClr val="6B5040"/>
          </a:solidFill>
          <a:ln w="6350">
            <a:solidFill>
              <a:srgbClr val="3C2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3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3" name="Shape 41"/>
          <p:cNvSpPr/>
          <p:nvPr/>
        </p:nvSpPr>
        <p:spPr>
          <a:xfrm>
            <a:off x="457200" y="1371600"/>
            <a:ext cx="4206240" cy="1005840"/>
          </a:xfrm>
          <a:prstGeom prst="rect">
            <a:avLst/>
          </a:prstGeom>
          <a:solidFill>
            <a:srgbClr val="3C2E22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1371600"/>
            <a:ext cx="502920" cy="1005840"/>
          </a:xfrm>
          <a:prstGeom prst="rect">
            <a:avLst/>
          </a:prstGeom>
          <a:solidFill>
            <a:srgbClr val="C9A9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1691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5156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Trend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51560" y="17373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 India sales show an overall upward trend over the study period.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0" y="1371600"/>
            <a:ext cx="4206240" cy="1005840"/>
          </a:xfrm>
          <a:prstGeom prst="rect">
            <a:avLst/>
          </a:prstGeom>
          <a:solidFill>
            <a:srgbClr val="3C2E22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1371600"/>
            <a:ext cx="502920" cy="1005840"/>
          </a:xfrm>
          <a:prstGeom prst="rect">
            <a:avLst/>
          </a:prstGeom>
          <a:solidFill>
            <a:srgbClr val="C9A9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1691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62356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Limitations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623560" y="17373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model revealed steady growth but failed to capture short-term fluctuations.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2560320"/>
            <a:ext cx="4206240" cy="1005840"/>
          </a:xfrm>
          <a:prstGeom prst="rect">
            <a:avLst/>
          </a:prstGeom>
          <a:solidFill>
            <a:srgbClr val="3C2E22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2560320"/>
            <a:ext cx="502920" cy="1005840"/>
          </a:xfrm>
          <a:prstGeom prst="rect">
            <a:avLst/>
          </a:prstGeom>
          <a:solidFill>
            <a:srgbClr val="C9A9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2880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5156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Superiority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51560" y="2926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accounts for past values and autocorrelation, making it more suitable for time series data.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029200" y="2560320"/>
            <a:ext cx="4206240" cy="1005840"/>
          </a:xfrm>
          <a:prstGeom prst="rect">
            <a:avLst/>
          </a:prstGeom>
          <a:solidFill>
            <a:srgbClr val="3C2E22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0" y="2560320"/>
            <a:ext cx="502920" cy="1005840"/>
          </a:xfrm>
          <a:prstGeom prst="rect">
            <a:avLst/>
          </a:prstGeom>
          <a:solidFill>
            <a:srgbClr val="C9A9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4920" y="2880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623560" y="2633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623560" y="2926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indicate continued sales growth: ₹4.47L → ₹4.50L → ₹4.54L (Jan–Mar 2025).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377440" y="3749040"/>
            <a:ext cx="4206240" cy="1005840"/>
          </a:xfrm>
          <a:prstGeom prst="rect">
            <a:avLst/>
          </a:prstGeom>
          <a:solidFill>
            <a:srgbClr val="3C2E22"/>
          </a:solidFill>
          <a:ln w="6350">
            <a:solidFill>
              <a:srgbClr val="7A62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77440" y="3749040"/>
            <a:ext cx="502920" cy="1005840"/>
          </a:xfrm>
          <a:prstGeom prst="rect">
            <a:avLst/>
          </a:prstGeom>
          <a:solidFill>
            <a:srgbClr val="C9A96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23160" y="4069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2971800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971800" y="41148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insights support better inventory planning, supply chain optimization, and pricing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45706" y="128588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01584" y="0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72170" y="128588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70218" y="771525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6096" y="642938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6682" y="771525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50608" y="1285875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1194" y="1414463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77072" y="1285875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1928813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45706" y="2057400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928813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72170" y="2057400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0218" y="2700338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2571750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6682" y="2700338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3214688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1194" y="3343275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7072" y="3214688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3857625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45706" y="3986213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3857625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72170" y="3986213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70218" y="4629150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4500563"/>
            <a:ext cx="404165" cy="546497"/>
          </a:xfrm>
          <a:prstGeom prst="rect">
            <a:avLst/>
          </a:prstGeom>
          <a:solidFill>
            <a:srgbClr val="A08060">
              <a:alpha val="6000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96682" y="4629150"/>
            <a:ext cx="237744" cy="321469"/>
          </a:xfrm>
          <a:prstGeom prst="ellipse">
            <a:avLst/>
          </a:prstGeom>
          <a:solidFill>
            <a:srgbClr val="7A6248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3716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1" name="Text 29"/>
          <p:cNvSpPr/>
          <p:nvPr/>
        </p:nvSpPr>
        <p:spPr>
          <a:xfrm>
            <a:off x="548640" y="25603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 &amp; Forecasting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A62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 India Sales Dataset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Leela Vyshnavi  ·  23BTRCL103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703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Vishwanjali  ·  23BTRCL047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977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Hanisha  ·  23BTRCL204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251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Poojitha  ·  23BTRCL242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526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Jahnavi  ·  23BTRCL202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800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Lakshmi Prasanna  ·  23BTRCL224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Analysis and Forecasting – IKEA India Sales</dc:title>
  <dc:subject>PptxGenJS Presentation</dc:subject>
  <dc:creator>PptxGenJS</dc:creator>
  <cp:lastModifiedBy>PptxGenJS</cp:lastModifiedBy>
  <cp:revision>1</cp:revision>
  <dcterms:created xsi:type="dcterms:W3CDTF">2026-04-01T08:39:13Z</dcterms:created>
  <dcterms:modified xsi:type="dcterms:W3CDTF">2026-04-01T08:39:13Z</dcterms:modified>
</cp:coreProperties>
</file>